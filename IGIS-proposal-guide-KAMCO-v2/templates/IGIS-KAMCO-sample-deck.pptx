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GIS 아키타입" id="{d52c2086-0988-ec51-5547-ca2d3aa17a77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5A5A5A"/>
                    </a:solidFill>
                    <a:latin typeface="Pretendard SemiBold"/>
                  </a:defRPr>
                </a:pPr>
              </a:p>
            </c:txPr>
            <c:dLblPos val="in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기초</c:v>
                  </c:pt>
                  <c:pt idx="1">
                    <c:v>신규</c:v>
                  </c:pt>
                  <c:pt idx="2">
                    <c:v>이탈</c:v>
                  </c:pt>
                  <c:pt idx="3">
                    <c:v>단가</c:v>
                  </c:pt>
                  <c:pt idx="4">
                    <c:v>기말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100</c:v>
                </c:pt>
                <c:pt idx="2">
                  <c:v>116</c:v>
                </c:pt>
                <c:pt idx="3">
                  <c:v>116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기초</c:v>
                </c:pt>
              </c:strCache>
            </c:strRef>
          </c:tx>
          <c:spPr>
            <a:solidFill>
              <a:srgbClr val="C9C9C9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5A5A5A"/>
                    </a:solidFill>
                    <a:latin typeface="Pretendard SemiBold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기초</c:v>
                  </c:pt>
                  <c:pt idx="1">
                    <c:v>신규</c:v>
                  </c:pt>
                  <c:pt idx="2">
                    <c:v>이탈</c:v>
                  </c:pt>
                  <c:pt idx="3">
                    <c:v>단가</c:v>
                  </c:pt>
                  <c:pt idx="4">
                    <c:v>기말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증가</c:v>
                </c:pt>
              </c:strCache>
            </c:strRef>
          </c:tx>
          <c:spPr>
            <a:solidFill>
              <a:srgbClr val="C9C9C9"/>
            </a:solidFill>
            <a:effectLst/>
          </c:spPr>
          <c:invertIfNegative val="0"/>
          <c:dLbls>
            <c:numFmt formatCode="&quot;+&quot;0;;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5A5A5A"/>
                    </a:solidFill>
                    <a:latin typeface="Pretendard SemiBold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기초</c:v>
                  </c:pt>
                  <c:pt idx="1">
                    <c:v>신규</c:v>
                  </c:pt>
                  <c:pt idx="2">
                    <c:v>이탈</c:v>
                  </c:pt>
                  <c:pt idx="3">
                    <c:v>단가</c:v>
                  </c:pt>
                  <c:pt idx="4">
                    <c:v>기말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</c:v>
                </c:pt>
                <c:pt idx="1">
                  <c:v>38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감소</c:v>
                </c:pt>
              </c:strCache>
            </c:strRef>
          </c:tx>
          <c:spPr>
            <a:solidFill>
              <a:srgbClr val="E2E2E2"/>
            </a:solidFill>
            <a:effectLst/>
          </c:spPr>
          <c:invertIfNegative val="0"/>
          <c:dLbls>
            <c:numFmt formatCode="&quot;−&quot;0;;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5A5A5A"/>
                    </a:solidFill>
                    <a:latin typeface="Pretendard SemiBold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기초</c:v>
                  </c:pt>
                  <c:pt idx="1">
                    <c:v>신규</c:v>
                  </c:pt>
                  <c:pt idx="2">
                    <c:v>이탈</c:v>
                  </c:pt>
                  <c:pt idx="3">
                    <c:v>단가</c:v>
                  </c:pt>
                  <c:pt idx="4">
                    <c:v>기말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22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강조</c:v>
                </c:pt>
              </c:strCache>
            </c:strRef>
          </c:tx>
          <c:spPr>
            <a:solidFill>
              <a:srgbClr val="0055A5"/>
            </a:solidFill>
            <a:effectLst/>
          </c:spPr>
          <c:invertIfNegative val="0"/>
          <c:dLbls>
            <c:numFmt formatCode="&quot;+&quot;0;;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Pretendard SemiBold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기초</c:v>
                  </c:pt>
                  <c:pt idx="1">
                    <c:v>신규</c:v>
                  </c:pt>
                  <c:pt idx="2">
                    <c:v>이탈</c:v>
                  </c:pt>
                  <c:pt idx="3">
                    <c:v>단가</c:v>
                  </c:pt>
                  <c:pt idx="4">
                    <c:v>기말</c:v>
                  </c:pt>
                </c:lvl>
              </c:multiLvlStrCache>
            </c:multiLvl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30</c:v>
                </c:pt>
                <c:pt idx="4">
                  <c:v>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기말</c:v>
                </c:pt>
              </c:strCache>
            </c:strRef>
          </c:tx>
          <c:spPr>
            <a:solidFill>
              <a:srgbClr val="2D375A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Pretendard SemiBold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기초</c:v>
                  </c:pt>
                  <c:pt idx="1">
                    <c:v>신규</c:v>
                  </c:pt>
                  <c:pt idx="2">
                    <c:v>이탈</c:v>
                  </c:pt>
                  <c:pt idx="3">
                    <c:v>단가</c:v>
                  </c:pt>
                  <c:pt idx="4">
                    <c:v>기말</c:v>
                  </c:pt>
                </c:lvl>
              </c:multiLvlStrCache>
            </c:multiLvlStrRef>
          </c:cat>
          <c:val>
            <c:numRef>
              <c:f>Sheet1!$G$2:$G$6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146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5A5A5A"/>
                  </a:solidFill>
                  <a:latin typeface="Pretendard SemiBold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9C9C9"/>
            </a:solidFill>
            <a:prstDash val="solid"/>
            <a:round/>
          </a:ln>
        </c:spPr>
        <c:txPr>
          <a:bodyPr/>
          <a:lstStyle/>
          <a:p>
            <a:pPr>
              <a:defRPr sz="1125" b="0" i="0" u="none" strike="noStrike">
                <a:solidFill>
                  <a:srgbClr val="5A5A5A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IS 01 표지">
    <p:bg>
      <p:bgPr>
        <a:solidFill>
          <a:srgbClr val="2D37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epo/IGIS-proposal-guide-KAMCO/assets/Logos/logo-primary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450" y="342900"/>
            <a:ext cx="1224643" cy="285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782050" y="342900"/>
            <a:ext cx="2857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25" spc="40" kern="0" dirty="0">
                <a:solidFill>
                  <a:srgbClr val="C4C7D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Investing in</a:t>
            </a:r>
            <a:endParaRPr lang="en-US" sz="1125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25" spc="40" kern="0" dirty="0">
                <a:solidFill>
                  <a:srgbClr val="C4C7D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Lasting Values</a:t>
            </a:r>
            <a:endParaRPr lang="en-US" sz="1125" dirty="0"/>
          </a:p>
        </p:txBody>
      </p:sp>
      <p:sp>
        <p:nvSpPr>
          <p:cNvPr id="4" name="eyebrow"/>
          <p:cNvSpPr/>
          <p:nvPr>
            <p:ph idx="102" type="body" hasCustomPrompt="1"/>
          </p:nvPr>
        </p:nvSpPr>
        <p:spPr>
          <a:xfrm>
            <a:off x="552450" y="3590925"/>
            <a:ext cx="8572500" cy="1905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50" spc="200" kern="0" dirty="0">
                <a:solidFill>
                  <a:srgbClr val="78B9E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50" spc="200" kern="0" dirty="0">
                <a:solidFill>
                  <a:srgbClr val="78B9E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사업명 · 제안 발표</a:t>
            </a:r>
            <a:endParaRPr lang="en-US" sz="1050" dirty="0"/>
          </a:p>
        </p:txBody>
      </p:sp>
      <p:sp>
        <p:nvSpPr>
          <p:cNvPr id="5" name="title"/>
          <p:cNvSpPr/>
          <p:nvPr>
            <p:ph idx="103" type="title" hasCustomPrompt="1"/>
          </p:nvPr>
        </p:nvSpPr>
        <p:spPr>
          <a:xfrm>
            <a:off x="552450" y="3857625"/>
            <a:ext cx="10477500" cy="13335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46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r>
              <a:rPr lang="en-US" sz="46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표지 제목</a:t>
            </a:r>
            <a:endParaRPr lang="en-US" sz="465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46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줄까지</a:t>
            </a:r>
            <a:endParaRPr lang="en-US" sz="4650" dirty="0"/>
          </a:p>
        </p:txBody>
      </p:sp>
      <p:sp>
        <p:nvSpPr>
          <p:cNvPr id="6" name="meta"/>
          <p:cNvSpPr/>
          <p:nvPr>
            <p:ph idx="104" type="body" hasCustomPrompt="1"/>
          </p:nvPr>
        </p:nvSpPr>
        <p:spPr>
          <a:xfrm>
            <a:off x="552450" y="5391150"/>
            <a:ext cx="9525000" cy="2095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25" dirty="0">
                <a:solidFill>
                  <a:srgbClr val="C4C7D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25" dirty="0">
                <a:solidFill>
                  <a:srgbClr val="C4C7D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2025. 06  ·  제안사  ·  IGIS Asset Management</a:t>
            </a:r>
            <a:endParaRPr lang="en-US" sz="1125" dirty="0"/>
          </a:p>
        </p:txBody>
      </p:sp>
      <p:sp>
        <p:nvSpPr>
          <p:cNvPr id="7" name="footer"/>
          <p:cNvSpPr/>
          <p:nvPr>
            <p:ph idx="105" type="body" hasCustomPrompt="1"/>
          </p:nvPr>
        </p:nvSpPr>
        <p:spPr>
          <a:xfrm>
            <a:off x="552450" y="6610350"/>
            <a:ext cx="8572500" cy="1714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dirty="0">
                <a:solidFill>
                  <a:srgbClr val="A1A5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dirty="0">
                <a:solidFill>
                  <a:srgbClr val="A1A5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정보제공 목적이며 투자권유를 구성하지 않습니다.</a:t>
            </a:r>
            <a:endParaRPr lang="en-US" sz="900" dirty="0"/>
          </a:p>
        </p:txBody>
      </p:sp>
      <p:pic>
        <p:nvPicPr>
          <p:cNvPr id="8" name="Image 1" descr="/home/claude/repo/IGIS-proposal-guide-KAMCO/assets/Logos/logo-wordmark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634163"/>
            <a:ext cx="514087" cy="123825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11182350" y="6610350"/>
            <a:ext cx="190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3989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_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72850" y="6610350"/>
            <a:ext cx="2667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A1A5B5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IS 02 목차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19475" y="0"/>
            <a:ext cx="9525" cy="6858000"/>
          </a:xfrm>
          <a:prstGeom prst="rect">
            <a:avLst/>
          </a:prstGeom>
          <a:solidFill>
            <a:srgbClr val="C9C9C9"/>
          </a:solidFill>
          <a:ln/>
        </p:spPr>
      </p:sp>
      <p:pic>
        <p:nvPicPr>
          <p:cNvPr id="3" name="Image 0" descr="/home/claude/repo/IGIS-proposal-guide-KAMCO/assets/Logos/logo-pri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42900"/>
            <a:ext cx="1061357" cy="2476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762250"/>
            <a:ext cx="2667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spc="160" kern="0" dirty="0">
                <a:solidFill>
                  <a:srgbClr val="8A8A8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CONTENTS</a:t>
            </a:r>
            <a:endParaRPr lang="en-US" sz="975" dirty="0"/>
          </a:p>
        </p:txBody>
      </p:sp>
      <p:sp>
        <p:nvSpPr>
          <p:cNvPr id="5" name="Text 2"/>
          <p:cNvSpPr/>
          <p:nvPr/>
        </p:nvSpPr>
        <p:spPr>
          <a:xfrm>
            <a:off x="457200" y="2990850"/>
            <a:ext cx="2667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37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57200" y="3429000"/>
            <a:ext cx="2667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55A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Agenda</a:t>
            </a:r>
            <a:endParaRPr lang="en-US" sz="3000" dirty="0"/>
          </a:p>
        </p:txBody>
      </p:sp>
      <p:sp>
        <p:nvSpPr>
          <p:cNvPr id="7" name="footer"/>
          <p:cNvSpPr/>
          <p:nvPr>
            <p:ph idx="105" type="body" hasCustomPrompt="1"/>
          </p:nvPr>
        </p:nvSpPr>
        <p:spPr>
          <a:xfrm>
            <a:off x="457200" y="6610350"/>
            <a:ext cx="2762250" cy="1714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IGIS Asset Management</a:t>
            </a:r>
            <a:endParaRPr lang="en-US" sz="900" dirty="0"/>
          </a:p>
        </p:txBody>
      </p:sp>
      <p:pic>
        <p:nvPicPr>
          <p:cNvPr id="8" name="Image 1" descr="/home/claude/repo/IGIS-proposal-guide-KAMCO/assets/Logos/logo-word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634163"/>
            <a:ext cx="514087" cy="12382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182350" y="6610350"/>
            <a:ext cx="190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A8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_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72850" y="6610350"/>
            <a:ext cx="2667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8A8A8A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IS 03 섹션 간지">
    <p:bg>
      <p:bgPr>
        <a:solidFill>
          <a:srgbClr val="2D37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ber"/>
          <p:cNvSpPr/>
          <p:nvPr>
            <p:ph idx="100" type="body" hasCustomPrompt="1"/>
          </p:nvPr>
        </p:nvSpPr>
        <p:spPr>
          <a:xfrm>
            <a:off x="552450" y="2857500"/>
            <a:ext cx="5715000" cy="2095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spc="120" kern="0" dirty="0">
                <a:solidFill>
                  <a:srgbClr val="78B9E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200" spc="120" kern="0" dirty="0">
                <a:solidFill>
                  <a:srgbClr val="78B9E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SECTION 01</a:t>
            </a:r>
            <a:endParaRPr lang="en-US" sz="1200" dirty="0"/>
          </a:p>
        </p:txBody>
      </p:sp>
      <p:sp>
        <p:nvSpPr>
          <p:cNvPr id="3" name="title"/>
          <p:cNvSpPr/>
          <p:nvPr>
            <p:ph idx="101" type="title" hasCustomPrompt="1"/>
          </p:nvPr>
        </p:nvSpPr>
        <p:spPr>
          <a:xfrm>
            <a:off x="552450" y="3105150"/>
            <a:ext cx="10477500" cy="609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섹션 타이틀</a:t>
            </a:r>
            <a:endParaRPr lang="en-US" sz="3900" dirty="0"/>
          </a:p>
        </p:txBody>
      </p:sp>
      <p:sp>
        <p:nvSpPr>
          <p:cNvPr id="4" name="subtitle"/>
          <p:cNvSpPr/>
          <p:nvPr>
            <p:ph idx="102" type="body" hasCustomPrompt="1"/>
          </p:nvPr>
        </p:nvSpPr>
        <p:spPr>
          <a:xfrm>
            <a:off x="552450" y="3752850"/>
            <a:ext cx="10477500" cy="2667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50" dirty="0">
                <a:solidFill>
                  <a:srgbClr val="ABAFB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50" dirty="0">
                <a:solidFill>
                  <a:srgbClr val="ABAFB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title in English</a:t>
            </a:r>
            <a:endParaRPr lang="en-US" sz="1350" dirty="0"/>
          </a:p>
        </p:txBody>
      </p:sp>
      <p:sp>
        <p:nvSpPr>
          <p:cNvPr id="5" name="footer"/>
          <p:cNvSpPr/>
          <p:nvPr>
            <p:ph idx="103" type="body" hasCustomPrompt="1"/>
          </p:nvPr>
        </p:nvSpPr>
        <p:spPr>
          <a:xfrm>
            <a:off x="552450" y="6610350"/>
            <a:ext cx="8572500" cy="1714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dirty="0">
                <a:solidFill>
                  <a:srgbClr val="A1A5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dirty="0">
                <a:solidFill>
                  <a:srgbClr val="A1A5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Investing in Lasting Values</a:t>
            </a:r>
            <a:endParaRPr lang="en-US" sz="900" dirty="0"/>
          </a:p>
        </p:txBody>
      </p:sp>
      <p:pic>
        <p:nvPicPr>
          <p:cNvPr id="6" name="Image 0" descr="/home/claude/repo/IGIS-proposal-guide-KAMCO/assets/Logos/logo-wordmark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0" y="6634163"/>
            <a:ext cx="514087" cy="12382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11182350" y="6610350"/>
            <a:ext cx="190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3989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_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72850" y="6610350"/>
            <a:ext cx="2667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A1A5B5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IS 04 표준 본문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5750" cy="28575"/>
          </a:xfrm>
          <a:prstGeom prst="rect">
            <a:avLst/>
          </a:prstGeom>
          <a:solidFill>
            <a:srgbClr val="0055A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8575" cy="285750"/>
          </a:xfrm>
          <a:prstGeom prst="rect">
            <a:avLst/>
          </a:prstGeom>
          <a:solidFill>
            <a:srgbClr val="0055A5"/>
          </a:solidFill>
          <a:ln/>
        </p:spPr>
      </p:sp>
      <p:sp>
        <p:nvSpPr>
          <p:cNvPr id="4" name="eyebrow"/>
          <p:cNvSpPr/>
          <p:nvPr>
            <p:ph idx="102" type="body" hasCustomPrompt="1"/>
          </p:nvPr>
        </p:nvSpPr>
        <p:spPr>
          <a:xfrm>
            <a:off x="552450" y="171450"/>
            <a:ext cx="8572500" cy="161925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75" spc="160" kern="0" dirty="0">
                <a:solidFill>
                  <a:srgbClr val="2D375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75" spc="160" kern="0" dirty="0">
                <a:solidFill>
                  <a:srgbClr val="2D375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섹션명 · EYEBROW</a:t>
            </a:r>
            <a:endParaRPr lang="en-US" sz="975" dirty="0"/>
          </a:p>
        </p:txBody>
      </p:sp>
      <p:sp>
        <p:nvSpPr>
          <p:cNvPr id="5" name="title"/>
          <p:cNvSpPr/>
          <p:nvPr>
            <p:ph idx="103" type="title" hasCustomPrompt="1"/>
          </p:nvPr>
        </p:nvSpPr>
        <p:spPr>
          <a:xfrm>
            <a:off x="552450" y="381000"/>
            <a:ext cx="11087100" cy="4762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dirty="0">
                <a:solidFill>
                  <a:srgbClr val="2D375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dirty="0">
                <a:solidFill>
                  <a:srgbClr val="2D375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결론을 한 문장으로 쓰는 액션 타이틀</a:t>
            </a:r>
            <a:endParaRPr lang="en-US" sz="2800" dirty="0"/>
          </a:p>
        </p:txBody>
      </p:sp>
      <p:sp>
        <p:nvSpPr>
          <p:cNvPr id="6" name="lead"/>
          <p:cNvSpPr/>
          <p:nvPr>
            <p:ph idx="104" type="body" hasCustomPrompt="1"/>
          </p:nvPr>
        </p:nvSpPr>
        <p:spPr>
          <a:xfrm>
            <a:off x="552450" y="914400"/>
            <a:ext cx="10096500" cy="2667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25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425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제목을 보충하는 리드 문장 한 줄 (선택)</a:t>
            </a:r>
            <a:endParaRPr lang="en-US" sz="1425" dirty="0"/>
          </a:p>
        </p:txBody>
      </p:sp>
      <p:sp>
        <p:nvSpPr>
          <p:cNvPr id="7" name="body"/>
          <p:cNvSpPr/>
          <p:nvPr>
            <p:ph idx="105" type="body" hasCustomPrompt="1"/>
          </p:nvPr>
        </p:nvSpPr>
        <p:spPr>
          <a:xfrm>
            <a:off x="552450" y="1295400"/>
            <a:ext cx="11087100" cy="518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0000"/>
              </a:lnSpc>
              <a:spcAft>
                <a:spcPts val="600"/>
              </a:spcAft>
              <a:buNone/>
              <a:defRPr lang="en-US" sz="1275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75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본문 — Pretendard 13pt, 좌측 정렬 (하한 12pt)</a:t>
            </a:r>
            <a:endParaRPr lang="en-US" sz="1275" dirty="0"/>
          </a:p>
        </p:txBody>
      </p:sp>
      <p:sp>
        <p:nvSpPr>
          <p:cNvPr id="8" name="footer"/>
          <p:cNvSpPr/>
          <p:nvPr>
            <p:ph idx="106" type="body" hasCustomPrompt="1"/>
          </p:nvPr>
        </p:nvSpPr>
        <p:spPr>
          <a:xfrm>
            <a:off x="552450" y="6610350"/>
            <a:ext cx="8572500" cy="1714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Source: 출처 · 단위: — · 'YY.MM.DD 기준</a:t>
            </a:r>
            <a:endParaRPr lang="en-US" sz="900" dirty="0"/>
          </a:p>
        </p:txBody>
      </p:sp>
      <p:pic>
        <p:nvPicPr>
          <p:cNvPr id="9" name="Image 0" descr="/home/claude/repo/IGIS-proposal-guide-KAMCO/assets/Logos/logo-wor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0" y="6634163"/>
            <a:ext cx="514087" cy="123825"/>
          </a:xfrm>
          <a:prstGeom prst="rect">
            <a:avLst/>
          </a:prstGeom>
        </p:spPr>
      </p:pic>
      <p:sp>
        <p:nvSpPr>
          <p:cNvPr id="10" name="Text 2"/>
          <p:cNvSpPr/>
          <p:nvPr/>
        </p:nvSpPr>
        <p:spPr>
          <a:xfrm>
            <a:off x="11182350" y="6610350"/>
            <a:ext cx="190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A8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_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72850" y="6610350"/>
            <a:ext cx="2667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8A8A8A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IS 04b 제목+리드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5750" cy="28575"/>
          </a:xfrm>
          <a:prstGeom prst="rect">
            <a:avLst/>
          </a:prstGeom>
          <a:solidFill>
            <a:srgbClr val="0055A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8575" cy="285750"/>
          </a:xfrm>
          <a:prstGeom prst="rect">
            <a:avLst/>
          </a:prstGeom>
          <a:solidFill>
            <a:srgbClr val="0055A5"/>
          </a:solidFill>
          <a:ln/>
        </p:spPr>
      </p:sp>
      <p:sp>
        <p:nvSpPr>
          <p:cNvPr id="4" name="eyebrow"/>
          <p:cNvSpPr/>
          <p:nvPr>
            <p:ph idx="102" type="body" hasCustomPrompt="1"/>
          </p:nvPr>
        </p:nvSpPr>
        <p:spPr>
          <a:xfrm>
            <a:off x="552450" y="171450"/>
            <a:ext cx="8572500" cy="161925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75" spc="160" kern="0" dirty="0">
                <a:solidFill>
                  <a:srgbClr val="2D375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75" spc="160" kern="0" dirty="0">
                <a:solidFill>
                  <a:srgbClr val="2D375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섹션명 · EYEBROW</a:t>
            </a:r>
            <a:endParaRPr lang="en-US" sz="975" dirty="0"/>
          </a:p>
        </p:txBody>
      </p:sp>
      <p:sp>
        <p:nvSpPr>
          <p:cNvPr id="5" name="title"/>
          <p:cNvSpPr/>
          <p:nvPr>
            <p:ph idx="103" type="title" hasCustomPrompt="1"/>
          </p:nvPr>
        </p:nvSpPr>
        <p:spPr>
          <a:xfrm>
            <a:off x="552450" y="381000"/>
            <a:ext cx="11087100" cy="4762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dirty="0">
                <a:solidFill>
                  <a:srgbClr val="2D375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dirty="0">
                <a:solidFill>
                  <a:srgbClr val="2D375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결론을 한 문장으로 쓰는 액션 타이틀</a:t>
            </a:r>
            <a:endParaRPr lang="en-US" sz="2800" dirty="0"/>
          </a:p>
        </p:txBody>
      </p:sp>
      <p:sp>
        <p:nvSpPr>
          <p:cNvPr id="6" name="lead"/>
          <p:cNvSpPr/>
          <p:nvPr>
            <p:ph idx="104" type="body" hasCustomPrompt="1"/>
          </p:nvPr>
        </p:nvSpPr>
        <p:spPr>
          <a:xfrm>
            <a:off x="552450" y="914400"/>
            <a:ext cx="10096500" cy="2667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25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425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제목을 보충하는 리드 문장 한 줄 (선택)</a:t>
            </a:r>
            <a:endParaRPr lang="en-US" sz="1425" dirty="0"/>
          </a:p>
        </p:txBody>
      </p:sp>
      <p:sp>
        <p:nvSpPr>
          <p:cNvPr id="7" name="footer"/>
          <p:cNvSpPr/>
          <p:nvPr>
            <p:ph idx="105" type="body" hasCustomPrompt="1"/>
          </p:nvPr>
        </p:nvSpPr>
        <p:spPr>
          <a:xfrm>
            <a:off x="552450" y="6610350"/>
            <a:ext cx="8572500" cy="1714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Source: 출처 · 단위: — · 'YY.MM.DD 기준</a:t>
            </a:r>
            <a:endParaRPr lang="en-US" sz="900" dirty="0"/>
          </a:p>
        </p:txBody>
      </p:sp>
      <p:pic>
        <p:nvPicPr>
          <p:cNvPr id="8" name="Image 0" descr="/home/claude/repo/IGIS-proposal-guide-KAMCO/assets/Logos/logo-wor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0" y="6634163"/>
            <a:ext cx="514087" cy="123825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11182350" y="6610350"/>
            <a:ext cx="190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A8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_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72850" y="6610350"/>
            <a:ext cx="2667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8A8A8A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IS 05 2-패널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552450" y="171450"/>
            <a:ext cx="8572500" cy="161925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75" spc="160" kern="0" dirty="0">
                <a:solidFill>
                  <a:srgbClr val="2D375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75" spc="160" kern="0" dirty="0">
                <a:solidFill>
                  <a:srgbClr val="2D375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섹션명 · EYEBROW</a:t>
            </a:r>
            <a:endParaRPr lang="en-US" sz="975" dirty="0"/>
          </a:p>
        </p:txBody>
      </p:sp>
      <p:sp>
        <p:nvSpPr>
          <p:cNvPr id="3" name="title"/>
          <p:cNvSpPr/>
          <p:nvPr>
            <p:ph idx="101" type="title" hasCustomPrompt="1"/>
          </p:nvPr>
        </p:nvSpPr>
        <p:spPr>
          <a:xfrm>
            <a:off x="552450" y="381000"/>
            <a:ext cx="11087100" cy="4762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dirty="0">
                <a:solidFill>
                  <a:srgbClr val="2D375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dirty="0">
                <a:solidFill>
                  <a:srgbClr val="2D375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결론을 한 문장으로 쓰는 액션 타이틀</a:t>
            </a:r>
            <a:endParaRPr lang="en-US" sz="2800" dirty="0"/>
          </a:p>
        </p:txBody>
      </p:sp>
      <p:sp>
        <p:nvSpPr>
          <p:cNvPr id="4" name="Shape 0"/>
          <p:cNvSpPr/>
          <p:nvPr/>
        </p:nvSpPr>
        <p:spPr>
          <a:xfrm>
            <a:off x="552450" y="1047750"/>
            <a:ext cx="247650" cy="247650"/>
          </a:xfrm>
          <a:prstGeom prst="rect">
            <a:avLst/>
          </a:prstGeom>
          <a:solidFill>
            <a:srgbClr val="2D375A"/>
          </a:solidFill>
          <a:ln/>
        </p:spPr>
      </p:sp>
      <p:sp>
        <p:nvSpPr>
          <p:cNvPr id="5" name="Text 1"/>
          <p:cNvSpPr/>
          <p:nvPr/>
        </p:nvSpPr>
        <p:spPr>
          <a:xfrm>
            <a:off x="552450" y="1047750"/>
            <a:ext cx="247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</a:t>
            </a:r>
            <a:endParaRPr lang="en-US" sz="1050" dirty="0"/>
          </a:p>
        </p:txBody>
      </p:sp>
      <p:sp>
        <p:nvSpPr>
          <p:cNvPr id="6" name="panel A heading"/>
          <p:cNvSpPr/>
          <p:nvPr>
            <p:ph idx="104" type="body" hasCustomPrompt="1"/>
          </p:nvPr>
        </p:nvSpPr>
        <p:spPr>
          <a:xfrm>
            <a:off x="914400" y="1047750"/>
            <a:ext cx="4914900" cy="2476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50" dirty="0">
                <a:solidFill>
                  <a:srgbClr val="2D375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50" dirty="0">
                <a:solidFill>
                  <a:srgbClr val="2D375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패널 A 제목</a:t>
            </a:r>
            <a:endParaRPr lang="en-US" sz="1650" dirty="0"/>
          </a:p>
        </p:txBody>
      </p:sp>
      <p:sp>
        <p:nvSpPr>
          <p:cNvPr id="7" name="Shape 2"/>
          <p:cNvSpPr/>
          <p:nvPr/>
        </p:nvSpPr>
        <p:spPr>
          <a:xfrm>
            <a:off x="552450" y="1409700"/>
            <a:ext cx="5276850" cy="15907"/>
          </a:xfrm>
          <a:prstGeom prst="rect">
            <a:avLst/>
          </a:prstGeom>
          <a:solidFill>
            <a:srgbClr val="2D375A"/>
          </a:solidFill>
          <a:ln/>
        </p:spPr>
      </p:sp>
      <p:sp>
        <p:nvSpPr>
          <p:cNvPr id="8" name="panel A body"/>
          <p:cNvSpPr/>
          <p:nvPr>
            <p:ph idx="106" type="body" hasCustomPrompt="1"/>
          </p:nvPr>
        </p:nvSpPr>
        <p:spPr>
          <a:xfrm>
            <a:off x="552450" y="1600200"/>
            <a:ext cx="5276850" cy="43815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228600" indent="-228600">
              <a:spcAft>
                <a:spcPts val="1200"/>
              </a:spcAft>
              <a:buClr>
                <a:srgbClr val="A8A8A8"/>
              </a:buClr>
              <a:buSzPct val="70000"/>
              <a:buFont typeface="Pretendard"/>
              <a:buChar char="●"/>
            </a:lvl1pPr>
          </a:lstStyle>
          <a:p>
            <a:pPr algn="l" indent="0" marL="0">
              <a:lnSpc>
                <a:spcPct val="125000"/>
              </a:lnSpc>
              <a:buNone/>
            </a:pPr>
            <a:r>
              <a:rPr lang="en-US" sz="1275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항목. 설명 문장</a:t>
            </a:r>
            <a:endParaRPr lang="en-US" sz="1275" dirty="0"/>
          </a:p>
        </p:txBody>
      </p:sp>
      <p:sp>
        <p:nvSpPr>
          <p:cNvPr id="9" name="Shape 3"/>
          <p:cNvSpPr/>
          <p:nvPr/>
        </p:nvSpPr>
        <p:spPr>
          <a:xfrm>
            <a:off x="552450" y="6096000"/>
            <a:ext cx="5276850" cy="9525"/>
          </a:xfrm>
          <a:prstGeom prst="rect">
            <a:avLst/>
          </a:prstGeom>
          <a:solidFill>
            <a:srgbClr val="C9C9C9"/>
          </a:solidFill>
          <a:ln/>
        </p:spPr>
      </p:sp>
      <p:sp>
        <p:nvSpPr>
          <p:cNvPr id="10" name="panel A tag"/>
          <p:cNvSpPr/>
          <p:nvPr>
            <p:ph idx="108" type="body" hasCustomPrompt="1"/>
          </p:nvPr>
        </p:nvSpPr>
        <p:spPr>
          <a:xfrm>
            <a:off x="552450" y="6229350"/>
            <a:ext cx="527685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50" dirty="0">
                <a:solidFill>
                  <a:srgbClr val="8A8A8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요약 지표 · 조건</a:t>
            </a:r>
            <a:endParaRPr lang="en-US" sz="1050" dirty="0"/>
          </a:p>
        </p:txBody>
      </p:sp>
      <p:sp>
        <p:nvSpPr>
          <p:cNvPr id="11" name="Shape 4"/>
          <p:cNvSpPr/>
          <p:nvPr/>
        </p:nvSpPr>
        <p:spPr>
          <a:xfrm>
            <a:off x="6362700" y="1047750"/>
            <a:ext cx="247650" cy="247650"/>
          </a:xfrm>
          <a:prstGeom prst="rect">
            <a:avLst/>
          </a:prstGeom>
          <a:solidFill>
            <a:srgbClr val="0055A5"/>
          </a:solidFill>
          <a:ln/>
        </p:spPr>
      </p:sp>
      <p:sp>
        <p:nvSpPr>
          <p:cNvPr id="12" name="Text 5"/>
          <p:cNvSpPr/>
          <p:nvPr/>
        </p:nvSpPr>
        <p:spPr>
          <a:xfrm>
            <a:off x="6362700" y="1047750"/>
            <a:ext cx="247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B</a:t>
            </a:r>
            <a:endParaRPr lang="en-US" sz="1050" dirty="0"/>
          </a:p>
        </p:txBody>
      </p:sp>
      <p:sp>
        <p:nvSpPr>
          <p:cNvPr id="13" name="panel B heading"/>
          <p:cNvSpPr/>
          <p:nvPr>
            <p:ph idx="111" type="body" hasCustomPrompt="1"/>
          </p:nvPr>
        </p:nvSpPr>
        <p:spPr>
          <a:xfrm>
            <a:off x="6724650" y="1047750"/>
            <a:ext cx="4914900" cy="2476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50" dirty="0">
                <a:solidFill>
                  <a:srgbClr val="2D375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50" dirty="0">
                <a:solidFill>
                  <a:srgbClr val="2D375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패널 B 제목</a:t>
            </a:r>
            <a:endParaRPr lang="en-US" sz="1650" dirty="0"/>
          </a:p>
        </p:txBody>
      </p:sp>
      <p:sp>
        <p:nvSpPr>
          <p:cNvPr id="14" name="Shape 6"/>
          <p:cNvSpPr/>
          <p:nvPr/>
        </p:nvSpPr>
        <p:spPr>
          <a:xfrm>
            <a:off x="6362700" y="1409700"/>
            <a:ext cx="5276850" cy="15907"/>
          </a:xfrm>
          <a:prstGeom prst="rect">
            <a:avLst/>
          </a:prstGeom>
          <a:solidFill>
            <a:srgbClr val="2D375A"/>
          </a:solidFill>
          <a:ln/>
        </p:spPr>
      </p:sp>
      <p:sp>
        <p:nvSpPr>
          <p:cNvPr id="15" name="panel B body"/>
          <p:cNvSpPr/>
          <p:nvPr>
            <p:ph idx="113" type="body" hasCustomPrompt="1"/>
          </p:nvPr>
        </p:nvSpPr>
        <p:spPr>
          <a:xfrm>
            <a:off x="6362700" y="1600200"/>
            <a:ext cx="5276850" cy="43815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228600" indent="-228600">
              <a:spcAft>
                <a:spcPts val="1200"/>
              </a:spcAft>
              <a:buClr>
                <a:srgbClr val="0055A5"/>
              </a:buClr>
              <a:buSzPct val="70000"/>
              <a:buFont typeface="Pretendard"/>
              <a:buChar char="●"/>
            </a:lvl1pPr>
          </a:lstStyle>
          <a:p>
            <a:pPr algn="l" indent="0" marL="0">
              <a:lnSpc>
                <a:spcPct val="125000"/>
              </a:lnSpc>
              <a:buNone/>
            </a:pPr>
            <a:r>
              <a:rPr lang="en-US" sz="1275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항목. 설명 문장</a:t>
            </a:r>
            <a:endParaRPr lang="en-US" sz="1275" dirty="0"/>
          </a:p>
        </p:txBody>
      </p:sp>
      <p:sp>
        <p:nvSpPr>
          <p:cNvPr id="16" name="Shape 7"/>
          <p:cNvSpPr/>
          <p:nvPr/>
        </p:nvSpPr>
        <p:spPr>
          <a:xfrm>
            <a:off x="6362700" y="6096000"/>
            <a:ext cx="5276850" cy="9525"/>
          </a:xfrm>
          <a:prstGeom prst="rect">
            <a:avLst/>
          </a:prstGeom>
          <a:solidFill>
            <a:srgbClr val="C9C9C9"/>
          </a:solidFill>
          <a:ln/>
        </p:spPr>
      </p:sp>
      <p:sp>
        <p:nvSpPr>
          <p:cNvPr id="17" name="panel B tag"/>
          <p:cNvSpPr/>
          <p:nvPr>
            <p:ph idx="115" type="body" hasCustomPrompt="1"/>
          </p:nvPr>
        </p:nvSpPr>
        <p:spPr>
          <a:xfrm>
            <a:off x="6362700" y="6229350"/>
            <a:ext cx="527685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50" dirty="0">
                <a:solidFill>
                  <a:srgbClr val="8A8A8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요약 지표 · 조건</a:t>
            </a:r>
            <a:endParaRPr lang="en-US" sz="1050" dirty="0"/>
          </a:p>
        </p:txBody>
      </p:sp>
      <p:sp>
        <p:nvSpPr>
          <p:cNvPr id="18" name="footer"/>
          <p:cNvSpPr/>
          <p:nvPr>
            <p:ph idx="116" type="body" hasCustomPrompt="1"/>
          </p:nvPr>
        </p:nvSpPr>
        <p:spPr>
          <a:xfrm>
            <a:off x="552450" y="6610350"/>
            <a:ext cx="8572500" cy="1714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Source: 출처 · 단위: — · 'YY.MM.DD 기준</a:t>
            </a:r>
            <a:endParaRPr lang="en-US" sz="900" dirty="0"/>
          </a:p>
        </p:txBody>
      </p:sp>
      <p:pic>
        <p:nvPicPr>
          <p:cNvPr id="19" name="Image 0" descr="/home/claude/repo/IGIS-proposal-guide-KAMCO/assets/Logos/logo-wor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0" y="6634163"/>
            <a:ext cx="514087" cy="123825"/>
          </a:xfrm>
          <a:prstGeom prst="rect">
            <a:avLst/>
          </a:prstGeom>
        </p:spPr>
      </p:pic>
      <p:sp>
        <p:nvSpPr>
          <p:cNvPr id="20" name="Text 8"/>
          <p:cNvSpPr/>
          <p:nvPr/>
        </p:nvSpPr>
        <p:spPr>
          <a:xfrm>
            <a:off x="11182350" y="6610350"/>
            <a:ext cx="190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A8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_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72850" y="6610350"/>
            <a:ext cx="2667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8A8A8A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IS 06 데이터·표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5750" cy="28575"/>
          </a:xfrm>
          <a:prstGeom prst="rect">
            <a:avLst/>
          </a:prstGeom>
          <a:solidFill>
            <a:srgbClr val="0055A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8575" cy="285750"/>
          </a:xfrm>
          <a:prstGeom prst="rect">
            <a:avLst/>
          </a:prstGeom>
          <a:solidFill>
            <a:srgbClr val="0055A5"/>
          </a:solidFill>
          <a:ln/>
        </p:spPr>
      </p:sp>
      <p:sp>
        <p:nvSpPr>
          <p:cNvPr id="4" name="eyebrow"/>
          <p:cNvSpPr/>
          <p:nvPr>
            <p:ph idx="102" type="body" hasCustomPrompt="1"/>
          </p:nvPr>
        </p:nvSpPr>
        <p:spPr>
          <a:xfrm>
            <a:off x="552450" y="171450"/>
            <a:ext cx="8572500" cy="161925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75" spc="160" kern="0" dirty="0">
                <a:solidFill>
                  <a:srgbClr val="2D375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75" spc="160" kern="0" dirty="0">
                <a:solidFill>
                  <a:srgbClr val="2D375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섹션명 · EYEBROW</a:t>
            </a:r>
            <a:endParaRPr lang="en-US" sz="975" dirty="0"/>
          </a:p>
        </p:txBody>
      </p:sp>
      <p:sp>
        <p:nvSpPr>
          <p:cNvPr id="5" name="title"/>
          <p:cNvSpPr/>
          <p:nvPr>
            <p:ph idx="103" type="title" hasCustomPrompt="1"/>
          </p:nvPr>
        </p:nvSpPr>
        <p:spPr>
          <a:xfrm>
            <a:off x="552450" y="381000"/>
            <a:ext cx="11087100" cy="4762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dirty="0">
                <a:solidFill>
                  <a:srgbClr val="2D375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dirty="0">
                <a:solidFill>
                  <a:srgbClr val="2D375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결론을 한 문장으로 쓰는 액션 타이틀</a:t>
            </a:r>
            <a:endParaRPr lang="en-US" sz="2800" dirty="0"/>
          </a:p>
        </p:txBody>
      </p:sp>
      <p:sp>
        <p:nvSpPr>
          <p:cNvPr id="6" name="chart"/>
          <p:cNvSpPr/>
          <p:nvPr>
            <p:ph idx="104" type="chart" hasCustomPrompt="1"/>
          </p:nvPr>
        </p:nvSpPr>
        <p:spPr>
          <a:xfrm>
            <a:off x="552450" y="1047750"/>
            <a:ext cx="11087100" cy="54292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차트 삽입 — 강조 1색(BLUE), 나머지 회색</a:t>
            </a:r>
            <a:endParaRPr lang="en-US" sz="1200" dirty="0"/>
          </a:p>
        </p:txBody>
      </p:sp>
      <p:sp>
        <p:nvSpPr>
          <p:cNvPr id="7" name="footer"/>
          <p:cNvSpPr/>
          <p:nvPr>
            <p:ph idx="105" type="body" hasCustomPrompt="1"/>
          </p:nvPr>
        </p:nvSpPr>
        <p:spPr>
          <a:xfrm>
            <a:off x="552450" y="6610350"/>
            <a:ext cx="8572500" cy="1714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Source: 출처 · 단위: — · 'YY.MM.DD 기준</a:t>
            </a:r>
            <a:endParaRPr lang="en-US" sz="900" dirty="0"/>
          </a:p>
        </p:txBody>
      </p:sp>
      <p:pic>
        <p:nvPicPr>
          <p:cNvPr id="8" name="Image 0" descr="/home/claude/repo/IGIS-proposal-guide-KAMCO/assets/Logos/logo-wor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0" y="6634163"/>
            <a:ext cx="514087" cy="123825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11182350" y="6610350"/>
            <a:ext cx="190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A8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_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72850" y="6610350"/>
            <a:ext cx="2667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8A8A8A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IS 07 클로징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epo/IGIS-proposal-guide-KAMCO/assets/Logos/logo-pri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450" y="342900"/>
            <a:ext cx="1143000" cy="266700"/>
          </a:xfrm>
          <a:prstGeom prst="rect">
            <a:avLst/>
          </a:prstGeom>
        </p:spPr>
      </p:pic>
      <p:sp>
        <p:nvSpPr>
          <p:cNvPr id="3" name="eyebrow"/>
          <p:cNvSpPr/>
          <p:nvPr>
            <p:ph idx="101" type="body" hasCustomPrompt="1"/>
          </p:nvPr>
        </p:nvSpPr>
        <p:spPr>
          <a:xfrm>
            <a:off x="552450" y="2190750"/>
            <a:ext cx="5715000" cy="1905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50" spc="200" kern="0" dirty="0">
                <a:solidFill>
                  <a:srgbClr val="0055A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50" spc="200" kern="0" dirty="0">
                <a:solidFill>
                  <a:srgbClr val="0055A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Q&amp;A · THANK YOU</a:t>
            </a:r>
            <a:endParaRPr lang="en-US" sz="105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552450" y="2495550"/>
            <a:ext cx="10477500" cy="12382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4200" b="1" dirty="0">
                <a:solidFill>
                  <a:srgbClr val="2D37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r>
              <a:rPr lang="en-US" sz="4200" b="1" dirty="0">
                <a:solidFill>
                  <a:srgbClr val="2D37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Investing in</a:t>
            </a:r>
            <a:endParaRPr lang="en-US" sz="42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4200" b="1" dirty="0">
                <a:solidFill>
                  <a:srgbClr val="2D37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Lasting Values</a:t>
            </a:r>
            <a:endParaRPr lang="en-US" sz="4200" dirty="0"/>
          </a:p>
        </p:txBody>
      </p:sp>
      <p:sp>
        <p:nvSpPr>
          <p:cNvPr id="5" name="Text 0"/>
          <p:cNvSpPr/>
          <p:nvPr/>
        </p:nvSpPr>
        <p:spPr>
          <a:xfrm>
            <a:off x="552450" y="5219700"/>
            <a:ext cx="2667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0055A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INVESTOR RELATIONS</a:t>
            </a:r>
            <a:endParaRPr lang="en-US" sz="900" dirty="0"/>
          </a:p>
        </p:txBody>
      </p:sp>
      <p:sp>
        <p:nvSpPr>
          <p:cNvPr id="6" name="contact 1"/>
          <p:cNvSpPr/>
          <p:nvPr>
            <p:ph idx="104" type="body" hasCustomPrompt="1"/>
          </p:nvPr>
        </p:nvSpPr>
        <p:spPr>
          <a:xfrm>
            <a:off x="552450" y="5429250"/>
            <a:ext cx="266700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75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275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ir@igisam.com</a:t>
            </a:r>
            <a:endParaRPr lang="en-US" sz="1275" dirty="0"/>
          </a:p>
        </p:txBody>
      </p:sp>
      <p:sp>
        <p:nvSpPr>
          <p:cNvPr id="7" name="Text 1"/>
          <p:cNvSpPr/>
          <p:nvPr/>
        </p:nvSpPr>
        <p:spPr>
          <a:xfrm>
            <a:off x="3409950" y="5219700"/>
            <a:ext cx="2667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0055A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TEL</a:t>
            </a:r>
            <a:endParaRPr lang="en-US" sz="900" dirty="0"/>
          </a:p>
        </p:txBody>
      </p:sp>
      <p:sp>
        <p:nvSpPr>
          <p:cNvPr id="8" name="contact 2"/>
          <p:cNvSpPr/>
          <p:nvPr>
            <p:ph idx="106" type="body" hasCustomPrompt="1"/>
          </p:nvPr>
        </p:nvSpPr>
        <p:spPr>
          <a:xfrm>
            <a:off x="3409950" y="5429250"/>
            <a:ext cx="266700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75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275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+82 2 0000 0000</a:t>
            </a:r>
            <a:endParaRPr lang="en-US" sz="1275" dirty="0"/>
          </a:p>
        </p:txBody>
      </p:sp>
      <p:sp>
        <p:nvSpPr>
          <p:cNvPr id="9" name="Text 2"/>
          <p:cNvSpPr/>
          <p:nvPr/>
        </p:nvSpPr>
        <p:spPr>
          <a:xfrm>
            <a:off x="6267450" y="5219700"/>
            <a:ext cx="2667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0055A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ADDRESS</a:t>
            </a:r>
            <a:endParaRPr lang="en-US" sz="900" dirty="0"/>
          </a:p>
        </p:txBody>
      </p:sp>
      <p:sp>
        <p:nvSpPr>
          <p:cNvPr id="10" name="contact 3"/>
          <p:cNvSpPr/>
          <p:nvPr>
            <p:ph idx="108" type="body" hasCustomPrompt="1"/>
          </p:nvPr>
        </p:nvSpPr>
        <p:spPr>
          <a:xfrm>
            <a:off x="6267450" y="5429250"/>
            <a:ext cx="266700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75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275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서울특별시 영등포구 국제금융로</a:t>
            </a:r>
            <a:endParaRPr lang="en-US" sz="1275" dirty="0"/>
          </a:p>
        </p:txBody>
      </p:sp>
      <p:sp>
        <p:nvSpPr>
          <p:cNvPr id="11" name="disclaimer"/>
          <p:cNvSpPr/>
          <p:nvPr>
            <p:ph idx="109" type="body" hasCustomPrompt="1"/>
          </p:nvPr>
        </p:nvSpPr>
        <p:spPr>
          <a:xfrm>
            <a:off x="552450" y="6057900"/>
            <a:ext cx="8572500" cy="2857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5000"/>
              </a:lnSpc>
              <a:buNone/>
              <a:defRPr lang="en-US" sz="90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문구</a:t>
            </a:r>
            <a:endParaRPr lang="en-US" sz="900" dirty="0"/>
          </a:p>
        </p:txBody>
      </p:sp>
      <p:sp>
        <p:nvSpPr>
          <p:cNvPr id="12" name="footer"/>
          <p:cNvSpPr/>
          <p:nvPr>
            <p:ph idx="110" type="body" hasCustomPrompt="1"/>
          </p:nvPr>
        </p:nvSpPr>
        <p:spPr>
          <a:xfrm>
            <a:off x="552450" y="6610350"/>
            <a:ext cx="8572500" cy="1714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© 2025 IGIS Asset Management</a:t>
            </a:r>
            <a:endParaRPr lang="en-US" sz="900" dirty="0"/>
          </a:p>
        </p:txBody>
      </p:sp>
      <p:pic>
        <p:nvPicPr>
          <p:cNvPr id="13" name="Image 1" descr="/home/claude/repo/IGIS-proposal-guide-KAMCO/assets/Logos/logo-word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634163"/>
            <a:ext cx="514087" cy="123825"/>
          </a:xfrm>
          <a:prstGeom prst="rect">
            <a:avLst/>
          </a:prstGeom>
        </p:spPr>
      </p:pic>
      <p:sp>
        <p:nvSpPr>
          <p:cNvPr id="14" name="Text 3"/>
          <p:cNvSpPr/>
          <p:nvPr/>
        </p:nvSpPr>
        <p:spPr>
          <a:xfrm>
            <a:off x="11182350" y="6610350"/>
            <a:ext cx="190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A8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_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72850" y="6610350"/>
            <a:ext cx="2667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8A8A8A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72850" y="6610350"/>
            <a:ext cx="2667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A1A5B5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2" type="body" hasCustomPrompt="1"/>
          </p:nvPr>
        </p:nvSpPr>
        <p:spPr>
          <a:xfrm>
            <a:off x="552450" y="3590925"/>
            <a:ext cx="857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00" kern="0" dirty="0">
                <a:solidFill>
                  <a:srgbClr val="78B9E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한국자산관리공사 · 제안 발표</a:t>
            </a:r>
            <a:endParaRPr lang="en-US" sz="1050" dirty="0"/>
          </a:p>
        </p:txBody>
      </p:sp>
      <p:sp>
        <p:nvSpPr>
          <p:cNvPr id="3" name="title"/>
          <p:cNvSpPr/>
          <p:nvPr>
            <p:ph idx="103" type="title" hasCustomPrompt="1"/>
          </p:nvPr>
        </p:nvSpPr>
        <p:spPr>
          <a:xfrm>
            <a:off x="552450" y="3857625"/>
            <a:ext cx="10477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6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국내 최대 부동산</a:t>
            </a:r>
            <a:endParaRPr lang="en-US" sz="465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46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자산운용 플랫폼</a:t>
            </a:r>
            <a:endParaRPr lang="en-US" sz="4650" dirty="0"/>
          </a:p>
        </p:txBody>
      </p:sp>
      <p:sp>
        <p:nvSpPr>
          <p:cNvPr id="4" name="meta"/>
          <p:cNvSpPr/>
          <p:nvPr>
            <p:ph idx="104" type="body" hasCustomPrompt="1"/>
          </p:nvPr>
        </p:nvSpPr>
        <p:spPr>
          <a:xfrm>
            <a:off x="552450" y="5391150"/>
            <a:ext cx="952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C4C7D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2025. 06  ·  제안사 IGIS Asset Management</a:t>
            </a:r>
            <a:endParaRPr lang="en-US" sz="1125" dirty="0"/>
          </a:p>
        </p:txBody>
      </p:sp>
      <p:sp>
        <p:nvSpPr>
          <p:cNvPr id="5" name="footer"/>
          <p:cNvSpPr/>
          <p:nvPr>
            <p:ph idx="105" type="body" hasCustomPrompt="1"/>
          </p:nvPr>
        </p:nvSpPr>
        <p:spPr>
          <a:xfrm>
            <a:off x="552450" y="6610350"/>
            <a:ext cx="857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1A5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정보제공 목적이며 투자권유를 구성하지 않습니다.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72850" y="6610350"/>
            <a:ext cx="2667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A1A5B5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OC lis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38600" y="1676400"/>
          <a:ext cx="7543800" cy="914400"/>
        </p:xfrm>
        <a:graphic>
          <a:graphicData uri="http://schemas.openxmlformats.org/drawingml/2006/table">
            <a:tbl>
              <a:tblPr/>
              <a:tblGrid>
                <a:gridCol w="800100"/>
                <a:gridCol w="4191000"/>
                <a:gridCol w="2552700"/>
              </a:tblGrid>
              <a:tr h="7048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55A5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01</a:t>
                      </a:r>
                      <a:endParaRPr lang="en-US" sz="15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2D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D375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운용 전략 및 차별화</a:t>
                      </a:r>
                      <a:endParaRPr lang="en-US" sz="165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2D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8A8A8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Investment Strategy</a:t>
                      </a:r>
                      <a:endParaRPr lang="en-US" sz="9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2D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55A5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02</a:t>
                      </a:r>
                      <a:endParaRPr lang="en-US" sz="15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D375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운용자산 현황</a:t>
                      </a:r>
                      <a:endParaRPr lang="en-US" sz="165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8A8A8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Assets Under Management</a:t>
                      </a:r>
                      <a:endParaRPr lang="en-US" sz="9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55A5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03</a:t>
                      </a:r>
                      <a:endParaRPr lang="en-US" sz="15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D375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트랙 레코드 및 성과</a:t>
                      </a:r>
                      <a:endParaRPr lang="en-US" sz="165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8A8A8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Track Record</a:t>
                      </a:r>
                      <a:endParaRPr lang="en-US" sz="9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55A5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04</a:t>
                      </a:r>
                      <a:endParaRPr lang="en-US" sz="15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D375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리스크 관리 체계</a:t>
                      </a:r>
                      <a:endParaRPr lang="en-US" sz="165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8A8A8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Risk Management</a:t>
                      </a:r>
                      <a:endParaRPr lang="en-US" sz="9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55A5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05</a:t>
                      </a:r>
                      <a:endParaRPr lang="en-US" sz="15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D375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ESG 및 향후 계획</a:t>
                      </a:r>
                      <a:endParaRPr lang="en-US" sz="165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8A8A8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ESG &amp; Outlook</a:t>
                      </a:r>
                      <a:endParaRPr lang="en-US" sz="97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footer"/>
          <p:cNvSpPr/>
          <p:nvPr>
            <p:ph idx="105" type="body" hasCustomPrompt="1"/>
          </p:nvPr>
        </p:nvSpPr>
        <p:spPr>
          <a:xfrm>
            <a:off x="457200" y="6610350"/>
            <a:ext cx="2762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IGIS Asset Management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72850" y="6610350"/>
            <a:ext cx="2667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8A8A8A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ber"/>
          <p:cNvSpPr/>
          <p:nvPr>
            <p:ph idx="100" type="body" hasCustomPrompt="1"/>
          </p:nvPr>
        </p:nvSpPr>
        <p:spPr>
          <a:xfrm>
            <a:off x="552450" y="2857500"/>
            <a:ext cx="571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78B9E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SECTION 01</a:t>
            </a:r>
            <a:endParaRPr lang="en-US" sz="1200" dirty="0"/>
          </a:p>
        </p:txBody>
      </p:sp>
      <p:sp>
        <p:nvSpPr>
          <p:cNvPr id="3" name="title"/>
          <p:cNvSpPr/>
          <p:nvPr>
            <p:ph idx="101" type="title" hasCustomPrompt="1"/>
          </p:nvPr>
        </p:nvSpPr>
        <p:spPr>
          <a:xfrm>
            <a:off x="552450" y="3105150"/>
            <a:ext cx="10477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운용 전략 및 차별화</a:t>
            </a:r>
            <a:endParaRPr lang="en-US" sz="3900" dirty="0"/>
          </a:p>
        </p:txBody>
      </p:sp>
      <p:sp>
        <p:nvSpPr>
          <p:cNvPr id="4" name="subtitle"/>
          <p:cNvSpPr/>
          <p:nvPr>
            <p:ph idx="102" type="body" hasCustomPrompt="1"/>
          </p:nvPr>
        </p:nvSpPr>
        <p:spPr>
          <a:xfrm>
            <a:off x="552450" y="3752850"/>
            <a:ext cx="10477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ABAFB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Investment Strategy &amp; Differentiation</a:t>
            </a:r>
            <a:endParaRPr lang="en-US" sz="1350" dirty="0"/>
          </a:p>
        </p:txBody>
      </p:sp>
      <p:sp>
        <p:nvSpPr>
          <p:cNvPr id="5" name="footer"/>
          <p:cNvSpPr/>
          <p:nvPr>
            <p:ph idx="103" type="body" hasCustomPrompt="1"/>
          </p:nvPr>
        </p:nvSpPr>
        <p:spPr>
          <a:xfrm>
            <a:off x="552450" y="6610350"/>
            <a:ext cx="857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1A5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Investing in Lasting Values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72850" y="6610350"/>
            <a:ext cx="2667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A1A5B5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2" type="body" hasCustomPrompt="1"/>
          </p:nvPr>
        </p:nvSpPr>
        <p:spPr>
          <a:xfrm>
            <a:off x="552450" y="171450"/>
            <a:ext cx="85725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75" spc="160" kern="0" dirty="0">
                <a:solidFill>
                  <a:srgbClr val="2D375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운용자산 현황 · AUM</a:t>
            </a:r>
            <a:endParaRPr lang="en-US" sz="975" dirty="0"/>
          </a:p>
        </p:txBody>
      </p:sp>
      <p:sp>
        <p:nvSpPr>
          <p:cNvPr id="3" name="title"/>
          <p:cNvSpPr/>
          <p:nvPr>
            <p:ph idx="103" type="title" hasCustomPrompt="1"/>
          </p:nvPr>
        </p:nvSpPr>
        <p:spPr>
          <a:xfrm>
            <a:off x="552450" y="381000"/>
            <a:ext cx="110871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2D375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부동산 전 섹터에 걸친 </a:t>
            </a:r>
            <a:pPr algn="l" indent="0" marL="0">
              <a:buNone/>
            </a:pPr>
            <a:r>
              <a:rPr lang="en-US" sz="2800" dirty="0">
                <a:solidFill>
                  <a:srgbClr val="0055A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68조원 규모</a:t>
            </a:r>
            <a:pPr algn="l" indent="0" marL="0">
              <a:buNone/>
            </a:pPr>
            <a:r>
              <a:rPr lang="en-US" sz="2800" dirty="0">
                <a:solidFill>
                  <a:srgbClr val="2D375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의 운용 플랫폼</a:t>
            </a:r>
            <a:endParaRPr lang="en-US" sz="2800" dirty="0"/>
          </a:p>
        </p:txBody>
      </p:sp>
      <p:sp>
        <p:nvSpPr>
          <p:cNvPr id="4" name="lead"/>
          <p:cNvSpPr/>
          <p:nvPr>
            <p:ph idx="104" type="body" hasCustomPrompt="1"/>
          </p:nvPr>
        </p:nvSpPr>
        <p:spPr>
          <a:xfrm>
            <a:off x="552450" y="914400"/>
            <a:ext cx="10096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25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오피스·물류·리테일·주거 및 대체자산까지, 핵심 입지 중심의 분산된 포트폴리오를 운용합니다.</a:t>
            </a:r>
            <a:endParaRPr lang="en-US" sz="1425" dirty="0"/>
          </a:p>
        </p:txBody>
      </p:sp>
      <p:sp>
        <p:nvSpPr>
          <p:cNvPr id="5" name="KPI rule"/>
          <p:cNvSpPr/>
          <p:nvPr/>
        </p:nvSpPr>
        <p:spPr>
          <a:xfrm>
            <a:off x="552450" y="1295400"/>
            <a:ext cx="11087100" cy="15907"/>
          </a:xfrm>
          <a:prstGeom prst="rect">
            <a:avLst/>
          </a:prstGeom>
          <a:solidFill>
            <a:srgbClr val="2D375A"/>
          </a:solidFill>
          <a:ln/>
        </p:spPr>
      </p:sp>
      <p:sp>
        <p:nvSpPr>
          <p:cNvPr id="6" name="KPI 1 value"/>
          <p:cNvSpPr txBox="1"/>
          <p:nvPr/>
        </p:nvSpPr>
        <p:spPr>
          <a:xfrm>
            <a:off x="819150" y="1543050"/>
            <a:ext cx="31623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900" dirty="0">
                <a:solidFill>
                  <a:srgbClr val="0055A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68.2</a:t>
            </a:r>
            <a:pPr indent="0" marL="0">
              <a:buNone/>
            </a:pPr>
            <a:r>
              <a:rPr lang="en-US" sz="1650" dirty="0">
                <a:solidFill>
                  <a:srgbClr val="5A5A5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 조원</a:t>
            </a:r>
            <a:endParaRPr lang="en-US" sz="3900" dirty="0"/>
          </a:p>
        </p:txBody>
      </p:sp>
      <p:sp>
        <p:nvSpPr>
          <p:cNvPr id="7" name="KPI 1 label"/>
          <p:cNvSpPr txBox="1"/>
          <p:nvPr/>
        </p:nvSpPr>
        <p:spPr>
          <a:xfrm>
            <a:off x="819150" y="2209800"/>
            <a:ext cx="3162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75" dirty="0">
                <a:solidFill>
                  <a:srgbClr val="2D375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운용자산(AUM)</a:t>
            </a:r>
            <a:endParaRPr lang="en-US" sz="1275" dirty="0"/>
          </a:p>
        </p:txBody>
      </p:sp>
      <p:sp>
        <p:nvSpPr>
          <p:cNvPr id="8" name="KPI 1 note"/>
          <p:cNvSpPr txBox="1"/>
          <p:nvPr/>
        </p:nvSpPr>
        <p:spPr>
          <a:xfrm>
            <a:off x="819150" y="2476500"/>
            <a:ext cx="3162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'24.12.31 기준</a:t>
            </a:r>
            <a:endParaRPr lang="en-US" sz="975" dirty="0"/>
          </a:p>
        </p:txBody>
      </p:sp>
      <p:sp>
        <p:nvSpPr>
          <p:cNvPr id="9" name="KPI divider 1"/>
          <p:cNvSpPr/>
          <p:nvPr/>
        </p:nvSpPr>
        <p:spPr>
          <a:xfrm>
            <a:off x="4248150" y="1314450"/>
            <a:ext cx="9525" cy="1619250"/>
          </a:xfrm>
          <a:prstGeom prst="rect">
            <a:avLst/>
          </a:prstGeom>
          <a:solidFill>
            <a:srgbClr val="C9C9C9"/>
          </a:solidFill>
          <a:ln/>
        </p:spPr>
      </p:sp>
      <p:sp>
        <p:nvSpPr>
          <p:cNvPr id="10" name="KPI 2 value"/>
          <p:cNvSpPr txBox="1"/>
          <p:nvPr/>
        </p:nvSpPr>
        <p:spPr>
          <a:xfrm>
            <a:off x="4514850" y="1543050"/>
            <a:ext cx="31623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900" dirty="0">
                <a:solidFill>
                  <a:srgbClr val="2D375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142</a:t>
            </a:r>
            <a:pPr indent="0" marL="0">
              <a:buNone/>
            </a:pPr>
            <a:r>
              <a:rPr lang="en-US" sz="1650" dirty="0">
                <a:solidFill>
                  <a:srgbClr val="5A5A5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 개</a:t>
            </a:r>
            <a:endParaRPr lang="en-US" sz="3900" dirty="0"/>
          </a:p>
        </p:txBody>
      </p:sp>
      <p:sp>
        <p:nvSpPr>
          <p:cNvPr id="11" name="KPI 2 label"/>
          <p:cNvSpPr txBox="1"/>
          <p:nvPr/>
        </p:nvSpPr>
        <p:spPr>
          <a:xfrm>
            <a:off x="4514850" y="2209800"/>
            <a:ext cx="3162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75" dirty="0">
                <a:solidFill>
                  <a:srgbClr val="2D375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운용 펀드 수</a:t>
            </a:r>
            <a:endParaRPr lang="en-US" sz="1275" dirty="0"/>
          </a:p>
        </p:txBody>
      </p:sp>
      <p:sp>
        <p:nvSpPr>
          <p:cNvPr id="12" name="KPI 2 note"/>
          <p:cNvSpPr txBox="1"/>
          <p:nvPr/>
        </p:nvSpPr>
        <p:spPr>
          <a:xfrm>
            <a:off x="4514850" y="2476500"/>
            <a:ext cx="3162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실물·재간접 합산</a:t>
            </a:r>
            <a:endParaRPr lang="en-US" sz="975" dirty="0"/>
          </a:p>
        </p:txBody>
      </p:sp>
      <p:sp>
        <p:nvSpPr>
          <p:cNvPr id="13" name="KPI divider 2"/>
          <p:cNvSpPr/>
          <p:nvPr/>
        </p:nvSpPr>
        <p:spPr>
          <a:xfrm>
            <a:off x="7943850" y="1314450"/>
            <a:ext cx="9525" cy="1619250"/>
          </a:xfrm>
          <a:prstGeom prst="rect">
            <a:avLst/>
          </a:prstGeom>
          <a:solidFill>
            <a:srgbClr val="C9C9C9"/>
          </a:solidFill>
          <a:ln/>
        </p:spPr>
      </p:sp>
      <p:sp>
        <p:nvSpPr>
          <p:cNvPr id="14" name="KPI 3 value"/>
          <p:cNvSpPr txBox="1"/>
          <p:nvPr/>
        </p:nvSpPr>
        <p:spPr>
          <a:xfrm>
            <a:off x="8210550" y="1543050"/>
            <a:ext cx="31623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900" dirty="0">
                <a:solidFill>
                  <a:srgbClr val="2D375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2.3</a:t>
            </a:r>
            <a:pPr indent="0" marL="0">
              <a:buNone/>
            </a:pPr>
            <a:r>
              <a:rPr lang="en-US" sz="1650" dirty="0">
                <a:solidFill>
                  <a:srgbClr val="5A5A5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 x</a:t>
            </a:r>
            <a:endParaRPr lang="en-US" sz="3900" dirty="0"/>
          </a:p>
        </p:txBody>
      </p:sp>
      <p:sp>
        <p:nvSpPr>
          <p:cNvPr id="15" name="KPI 3 label"/>
          <p:cNvSpPr txBox="1"/>
          <p:nvPr/>
        </p:nvSpPr>
        <p:spPr>
          <a:xfrm>
            <a:off x="8210550" y="2209800"/>
            <a:ext cx="3162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75" dirty="0">
                <a:solidFill>
                  <a:srgbClr val="2D375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평균 투자 멀티플</a:t>
            </a:r>
            <a:endParaRPr lang="en-US" sz="1275" dirty="0"/>
          </a:p>
        </p:txBody>
      </p:sp>
      <p:sp>
        <p:nvSpPr>
          <p:cNvPr id="16" name="KPI 3 note"/>
          <p:cNvSpPr txBox="1"/>
          <p:nvPr/>
        </p:nvSpPr>
        <p:spPr>
          <a:xfrm>
            <a:off x="8210550" y="2476500"/>
            <a:ext cx="3162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청산 펀드 기준</a:t>
            </a:r>
            <a:endParaRPr lang="en-US" sz="975" dirty="0"/>
          </a:p>
        </p:txBody>
      </p:sp>
      <p:sp>
        <p:nvSpPr>
          <p:cNvPr id="17" name="Body copy left"/>
          <p:cNvSpPr txBox="1"/>
          <p:nvPr/>
        </p:nvSpPr>
        <p:spPr>
          <a:xfrm>
            <a:off x="552450" y="3238500"/>
            <a:ext cx="53530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75" dirty="0">
                <a:solidFill>
                  <a:srgbClr val="2D375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코어·코어플러스 전략</a:t>
            </a:r>
            <a:pPr indent="0" marL="0">
              <a:lnSpc>
                <a:spcPct val="130000"/>
              </a:lnSpc>
              <a:buNone/>
            </a:pPr>
            <a:r>
              <a:rPr lang="en-US" sz="1275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을 중심으로 안정적 현금흐름을 확보하고, 선별적 </a:t>
            </a:r>
            <a:pPr indent="0" marL="0">
              <a:lnSpc>
                <a:spcPct val="130000"/>
              </a:lnSpc>
              <a:buNone/>
            </a:pPr>
            <a:r>
              <a:rPr lang="en-US" sz="1275" dirty="0">
                <a:solidFill>
                  <a:srgbClr val="0055A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밸류애드</a:t>
            </a:r>
            <a:pPr indent="0" marL="0">
              <a:lnSpc>
                <a:spcPct val="130000"/>
              </a:lnSpc>
              <a:buNone/>
            </a:pPr>
            <a:r>
              <a:rPr lang="en-US" sz="1275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기회를 통해 초과수익을 추구합니다.</a:t>
            </a:r>
            <a:endParaRPr lang="en-US" sz="1275" dirty="0"/>
          </a:p>
        </p:txBody>
      </p:sp>
      <p:sp>
        <p:nvSpPr>
          <p:cNvPr id="18" name="Body copy right"/>
          <p:cNvSpPr txBox="1"/>
          <p:nvPr/>
        </p:nvSpPr>
        <p:spPr>
          <a:xfrm>
            <a:off x="6286500" y="3238500"/>
            <a:ext cx="53530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75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 과정에 걸친 </a:t>
            </a:r>
            <a:pPr indent="0" marL="0">
              <a:lnSpc>
                <a:spcPct val="130000"/>
              </a:lnSpc>
              <a:buNone/>
            </a:pPr>
            <a:r>
              <a:rPr lang="en-US" sz="1275" dirty="0">
                <a:solidFill>
                  <a:srgbClr val="2D375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리스크 관리 체계</a:t>
            </a:r>
            <a:pPr indent="0" marL="0">
              <a:lnSpc>
                <a:spcPct val="130000"/>
              </a:lnSpc>
              <a:buNone/>
            </a:pPr>
            <a:r>
              <a:rPr lang="en-US" sz="1275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와 내재화된 운용 역량으로 시장 사이클 전반에서 일관된 성과를 지향합니다.</a:t>
            </a:r>
            <a:endParaRPr lang="en-US" sz="1275" dirty="0"/>
          </a:p>
        </p:txBody>
      </p:sp>
      <p:sp>
        <p:nvSpPr>
          <p:cNvPr id="19" name="footer"/>
          <p:cNvSpPr/>
          <p:nvPr>
            <p:ph idx="105" type="body" hasCustomPrompt="1"/>
          </p:nvPr>
        </p:nvSpPr>
        <p:spPr>
          <a:xfrm>
            <a:off x="552450" y="6610350"/>
            <a:ext cx="857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Source: IGIS Research · 단위: 조원 · '24.12.31 기준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72850" y="6610350"/>
            <a:ext cx="2667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8A8A8A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552450" y="171450"/>
            <a:ext cx="85725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75" spc="160" kern="0" dirty="0">
                <a:solidFill>
                  <a:srgbClr val="2D375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운용 전략 · 비교</a:t>
            </a:r>
            <a:endParaRPr lang="en-US" sz="975" dirty="0"/>
          </a:p>
        </p:txBody>
      </p:sp>
      <p:sp>
        <p:nvSpPr>
          <p:cNvPr id="3" name="title"/>
          <p:cNvSpPr/>
          <p:nvPr>
            <p:ph idx="101" type="title" hasCustomPrompt="1"/>
          </p:nvPr>
        </p:nvSpPr>
        <p:spPr>
          <a:xfrm>
            <a:off x="552450" y="381000"/>
            <a:ext cx="110871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2D375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전략별 역할 분담으로 </a:t>
            </a:r>
            <a:pPr algn="l" indent="0" marL="0">
              <a:buNone/>
            </a:pPr>
            <a:r>
              <a:rPr lang="en-US" sz="2800" dirty="0">
                <a:solidFill>
                  <a:srgbClr val="0055A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위험·수익</a:t>
            </a:r>
            <a:pPr algn="l" indent="0" marL="0">
              <a:buNone/>
            </a:pPr>
            <a:r>
              <a:rPr lang="en-US" sz="2800" dirty="0">
                <a:solidFill>
                  <a:srgbClr val="2D375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의 균형 추구</a:t>
            </a:r>
            <a:endParaRPr lang="en-US" sz="2800" dirty="0"/>
          </a:p>
        </p:txBody>
      </p:sp>
      <p:sp>
        <p:nvSpPr>
          <p:cNvPr id="4" name="panel A heading"/>
          <p:cNvSpPr/>
          <p:nvPr>
            <p:ph idx="104" type="body" hasCustomPrompt="1"/>
          </p:nvPr>
        </p:nvSpPr>
        <p:spPr>
          <a:xfrm>
            <a:off x="914400" y="1047750"/>
            <a:ext cx="49149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2D375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코어 · 코어플러스</a:t>
            </a:r>
            <a:endParaRPr lang="en-US" sz="1650" dirty="0"/>
          </a:p>
        </p:txBody>
      </p:sp>
      <p:sp>
        <p:nvSpPr>
          <p:cNvPr id="5" name="panel A body"/>
          <p:cNvSpPr/>
          <p:nvPr>
            <p:ph idx="106" type="body" hasCustomPrompt="1"/>
          </p:nvPr>
        </p:nvSpPr>
        <p:spPr>
          <a:xfrm>
            <a:off x="552450" y="1600200"/>
            <a:ext cx="5276850" cy="438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1275" dirty="0">
                <a:solidFill>
                  <a:srgbClr val="2D375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안정적 배당. </a:t>
            </a:r>
            <a:pPr algn="l">
              <a:lnSpc>
                <a:spcPct val="125000"/>
              </a:lnSpc>
            </a:pPr>
            <a:r>
              <a:rPr lang="en-US" sz="1275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우량 임차인 중심 장기 계약으로 예측 가능한 현금흐름 확보</a:t>
            </a:r>
            <a:endParaRPr lang="en-US" sz="1275" dirty="0"/>
          </a:p>
          <a:p>
            <a:pPr algn="l">
              <a:lnSpc>
                <a:spcPct val="125000"/>
              </a:lnSpc>
            </a:pPr>
            <a:r>
              <a:rPr lang="en-US" sz="1275" dirty="0">
                <a:solidFill>
                  <a:srgbClr val="2D375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핵심 입지. </a:t>
            </a:r>
            <a:pPr algn="l">
              <a:lnSpc>
                <a:spcPct val="125000"/>
              </a:lnSpc>
            </a:pPr>
            <a:r>
              <a:rPr lang="en-US" sz="1275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권역 내 상위 자산에 집중, 공실 리스크 최소화</a:t>
            </a:r>
            <a:endParaRPr lang="en-US" sz="1275" dirty="0"/>
          </a:p>
          <a:p>
            <a:pPr algn="l">
              <a:lnSpc>
                <a:spcPct val="125000"/>
              </a:lnSpc>
            </a:pPr>
            <a:r>
              <a:rPr lang="en-US" sz="1275" dirty="0">
                <a:solidFill>
                  <a:srgbClr val="2D375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낮은 변동성. </a:t>
            </a:r>
            <a:pPr algn="l">
              <a:lnSpc>
                <a:spcPct val="125000"/>
              </a:lnSpc>
            </a:pPr>
            <a:r>
              <a:rPr lang="en-US" sz="1275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 사이클 전반에서 방어적 포지션 유지</a:t>
            </a:r>
            <a:endParaRPr lang="en-US" sz="1275" dirty="0"/>
          </a:p>
        </p:txBody>
      </p:sp>
      <p:sp>
        <p:nvSpPr>
          <p:cNvPr id="6" name="panel A tag"/>
          <p:cNvSpPr/>
          <p:nvPr>
            <p:ph idx="108" type="body" hasCustomPrompt="1"/>
          </p:nvPr>
        </p:nvSpPr>
        <p:spPr>
          <a:xfrm>
            <a:off x="552450" y="6229350"/>
            <a:ext cx="5276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목표 IRR 6–8% · 보유기간 7년+</a:t>
            </a:r>
            <a:endParaRPr lang="en-US" sz="1050" dirty="0"/>
          </a:p>
        </p:txBody>
      </p:sp>
      <p:sp>
        <p:nvSpPr>
          <p:cNvPr id="7" name="panel B heading"/>
          <p:cNvSpPr/>
          <p:nvPr>
            <p:ph idx="111" type="body" hasCustomPrompt="1"/>
          </p:nvPr>
        </p:nvSpPr>
        <p:spPr>
          <a:xfrm>
            <a:off x="6724650" y="1047750"/>
            <a:ext cx="49149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2D375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밸류애드</a:t>
            </a:r>
            <a:endParaRPr lang="en-US" sz="1650" dirty="0"/>
          </a:p>
        </p:txBody>
      </p:sp>
      <p:sp>
        <p:nvSpPr>
          <p:cNvPr id="8" name="panel B body"/>
          <p:cNvSpPr/>
          <p:nvPr>
            <p:ph idx="113" type="body" hasCustomPrompt="1"/>
          </p:nvPr>
        </p:nvSpPr>
        <p:spPr>
          <a:xfrm>
            <a:off x="6362700" y="1600200"/>
            <a:ext cx="5276850" cy="438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1275" dirty="0">
                <a:solidFill>
                  <a:srgbClr val="2D375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가치 제고. </a:t>
            </a:r>
            <a:pPr algn="l">
              <a:lnSpc>
                <a:spcPct val="125000"/>
              </a:lnSpc>
            </a:pPr>
            <a:r>
              <a:rPr lang="en-US" sz="1275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리모델링·임차 구조 개선으로 자산 가치 상승 견인</a:t>
            </a:r>
            <a:endParaRPr lang="en-US" sz="1275" dirty="0"/>
          </a:p>
          <a:p>
            <a:pPr algn="l">
              <a:lnSpc>
                <a:spcPct val="125000"/>
              </a:lnSpc>
            </a:pPr>
            <a:r>
              <a:rPr lang="en-US" sz="1275" dirty="0">
                <a:solidFill>
                  <a:srgbClr val="2D375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선별적 진입. </a:t>
            </a:r>
            <a:pPr algn="l">
              <a:lnSpc>
                <a:spcPct val="125000"/>
              </a:lnSpc>
            </a:pPr>
            <a:r>
              <a:rPr lang="en-US" sz="1275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명확한 출구 전략이 확보된 기회에 한정</a:t>
            </a:r>
            <a:endParaRPr lang="en-US" sz="1275" dirty="0"/>
          </a:p>
          <a:p>
            <a:pPr algn="l">
              <a:lnSpc>
                <a:spcPct val="125000"/>
              </a:lnSpc>
            </a:pPr>
            <a:r>
              <a:rPr lang="en-US" sz="1275" dirty="0">
                <a:solidFill>
                  <a:srgbClr val="2D375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초과수익. </a:t>
            </a:r>
            <a:pPr algn="l">
              <a:lnSpc>
                <a:spcPct val="125000"/>
              </a:lnSpc>
            </a:pPr>
            <a:r>
              <a:rPr lang="en-US" sz="1275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운용 역량 기반의 적극적 자산관리로 알파 창출</a:t>
            </a:r>
            <a:endParaRPr lang="en-US" sz="1275" dirty="0"/>
          </a:p>
        </p:txBody>
      </p:sp>
      <p:sp>
        <p:nvSpPr>
          <p:cNvPr id="9" name="panel B tag"/>
          <p:cNvSpPr/>
          <p:nvPr>
            <p:ph idx="115" type="body" hasCustomPrompt="1"/>
          </p:nvPr>
        </p:nvSpPr>
        <p:spPr>
          <a:xfrm>
            <a:off x="6362700" y="6229350"/>
            <a:ext cx="5276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목표 IRR 10–13% · 보유기간 3–5년</a:t>
            </a:r>
            <a:endParaRPr lang="en-US" sz="1050" dirty="0"/>
          </a:p>
        </p:txBody>
      </p:sp>
      <p:sp>
        <p:nvSpPr>
          <p:cNvPr id="10" name="footer"/>
          <p:cNvSpPr/>
          <p:nvPr>
            <p:ph idx="116" type="body" hasCustomPrompt="1"/>
          </p:nvPr>
        </p:nvSpPr>
        <p:spPr>
          <a:xfrm>
            <a:off x="552450" y="6610350"/>
            <a:ext cx="857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Source: IGIS Research · 목표 수익률은 예시이며 실현을 보장하지 않습니다 (E)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72850" y="6610350"/>
            <a:ext cx="2667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8A8A8A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2" type="body" hasCustomPrompt="1"/>
          </p:nvPr>
        </p:nvSpPr>
        <p:spPr>
          <a:xfrm>
            <a:off x="552450" y="171450"/>
            <a:ext cx="85725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75" spc="160" kern="0" dirty="0">
                <a:solidFill>
                  <a:srgbClr val="2D375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성과 분석 · Waterfall</a:t>
            </a:r>
            <a:endParaRPr lang="en-US" sz="975" dirty="0"/>
          </a:p>
        </p:txBody>
      </p:sp>
      <p:sp>
        <p:nvSpPr>
          <p:cNvPr id="3" name="title"/>
          <p:cNvSpPr/>
          <p:nvPr>
            <p:ph idx="103" type="title" hasCustomPrompt="1"/>
          </p:nvPr>
        </p:nvSpPr>
        <p:spPr>
          <a:xfrm>
            <a:off x="552450" y="381000"/>
            <a:ext cx="110871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2D375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기말 가치 증가는 </a:t>
            </a:r>
            <a:pPr algn="l" indent="0" marL="0">
              <a:buNone/>
            </a:pPr>
            <a:r>
              <a:rPr lang="en-US" sz="2800" dirty="0">
                <a:solidFill>
                  <a:srgbClr val="0055A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단가 상승</a:t>
            </a:r>
            <a:pPr algn="l" indent="0" marL="0">
              <a:buNone/>
            </a:pPr>
            <a:r>
              <a:rPr lang="en-US" sz="2800" dirty="0">
                <a:solidFill>
                  <a:srgbClr val="2D375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 주도</a:t>
            </a:r>
            <a:endParaRPr lang="en-US" sz="2800" dirty="0"/>
          </a:p>
        </p:txBody>
      </p:sp>
      <p:graphicFrame>
        <p:nvGraphicFramePr>
          <p:cNvPr id="4" name="Waterfall chart" descr=""/>
          <p:cNvGraphicFramePr/>
          <p:nvPr/>
        </p:nvGraphicFramePr>
        <p:xfrm>
          <a:off x="552450" y="1047750"/>
          <a:ext cx="11087100" cy="50482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hart note"/>
          <p:cNvSpPr txBox="1"/>
          <p:nvPr/>
        </p:nvSpPr>
        <p:spPr>
          <a:xfrm>
            <a:off x="552450" y="6248400"/>
            <a:ext cx="7620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5" dirty="0">
                <a:solidFill>
                  <a:srgbClr val="0055A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■ </a:t>
            </a:r>
            <a:pPr indent="0" marL="0">
              <a:buNone/>
            </a:pPr>
            <a:r>
              <a:rPr lang="en-US" sz="1125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강조 1색: '단가' 기여만 BLUE, 나머지는 회색으로 배경화(gray-out)</a:t>
            </a:r>
            <a:endParaRPr lang="en-US" sz="1125" dirty="0"/>
          </a:p>
        </p:txBody>
      </p:sp>
      <p:sp>
        <p:nvSpPr>
          <p:cNvPr id="6" name="footer"/>
          <p:cNvSpPr/>
          <p:nvPr>
            <p:ph idx="105" type="body" hasCustomPrompt="1"/>
          </p:nvPr>
        </p:nvSpPr>
        <p:spPr>
          <a:xfrm>
            <a:off x="552450" y="6610350"/>
            <a:ext cx="857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Source: 예시 데이터 (Illustrative) · 단위: 지수(기초=100) · '24.12.31 기준</a:t>
            </a:r>
            <a:endParaRPr lang="en-US" sz="900" dirty="0"/>
          </a:p>
        </p:txBody>
      </p:sp>
      <p:sp>
        <p:nvSpPr>
          <p:cNvPr id="7" name="chart"/>
          <p:cNvSpPr/>
          <p:nvPr>
            <p:ph idx="104" type="chart" hasCustomPrompt="1"/>
          </p:nvPr>
        </p:nvSpPr>
        <p:spPr>
          <a:xfrm>
            <a:off x="552450" y="1047750"/>
            <a:ext cx="11087100" cy="542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72850" y="6610350"/>
            <a:ext cx="2667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8A8A8A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1" type="body" hasCustomPrompt="1"/>
          </p:nvPr>
        </p:nvSpPr>
        <p:spPr>
          <a:xfrm>
            <a:off x="552450" y="2190750"/>
            <a:ext cx="571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00" kern="0" dirty="0">
                <a:solidFill>
                  <a:srgbClr val="0055A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Q&amp;A · THANK YOU</a:t>
            </a:r>
            <a:endParaRPr lang="en-US" sz="1050" dirty="0"/>
          </a:p>
        </p:txBody>
      </p:sp>
      <p:sp>
        <p:nvSpPr>
          <p:cNvPr id="3" name="title"/>
          <p:cNvSpPr/>
          <p:nvPr>
            <p:ph idx="102" type="title" hasCustomPrompt="1"/>
          </p:nvPr>
        </p:nvSpPr>
        <p:spPr>
          <a:xfrm>
            <a:off x="552450" y="2495550"/>
            <a:ext cx="10477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200" b="1" dirty="0">
                <a:solidFill>
                  <a:srgbClr val="2D37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Investing in</a:t>
            </a:r>
            <a:endParaRPr lang="en-US" sz="42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4200" b="1" dirty="0">
                <a:solidFill>
                  <a:srgbClr val="2D37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Lasting Values</a:t>
            </a:r>
            <a:endParaRPr lang="en-US" sz="4200" dirty="0"/>
          </a:p>
        </p:txBody>
      </p:sp>
      <p:sp>
        <p:nvSpPr>
          <p:cNvPr id="4" name="contact 1"/>
          <p:cNvSpPr/>
          <p:nvPr>
            <p:ph idx="104" type="body" hasCustomPrompt="1"/>
          </p:nvPr>
        </p:nvSpPr>
        <p:spPr>
          <a:xfrm>
            <a:off x="552450" y="5429250"/>
            <a:ext cx="266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ir@igisam.com</a:t>
            </a:r>
            <a:endParaRPr lang="en-US" sz="1275" dirty="0"/>
          </a:p>
        </p:txBody>
      </p:sp>
      <p:sp>
        <p:nvSpPr>
          <p:cNvPr id="5" name="contact 2"/>
          <p:cNvSpPr/>
          <p:nvPr>
            <p:ph idx="106" type="body" hasCustomPrompt="1"/>
          </p:nvPr>
        </p:nvSpPr>
        <p:spPr>
          <a:xfrm>
            <a:off x="3409950" y="5429250"/>
            <a:ext cx="266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275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+82 2 0000 0000</a:t>
            </a:r>
            <a:endParaRPr lang="en-US" sz="1275" dirty="0"/>
          </a:p>
        </p:txBody>
      </p:sp>
      <p:sp>
        <p:nvSpPr>
          <p:cNvPr id="6" name="contact 3"/>
          <p:cNvSpPr/>
          <p:nvPr>
            <p:ph idx="108" type="body" hasCustomPrompt="1"/>
          </p:nvPr>
        </p:nvSpPr>
        <p:spPr>
          <a:xfrm>
            <a:off x="6267450" y="5429250"/>
            <a:ext cx="266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서울특별시 영등포구 국제금융로</a:t>
            </a:r>
            <a:endParaRPr lang="en-US" sz="1275" dirty="0"/>
          </a:p>
        </p:txBody>
      </p:sp>
      <p:sp>
        <p:nvSpPr>
          <p:cNvPr id="7" name="disclaimer"/>
          <p:cNvSpPr/>
          <p:nvPr>
            <p:ph idx="109" type="body" hasCustomPrompt="1"/>
          </p:nvPr>
        </p:nvSpPr>
        <p:spPr>
          <a:xfrm>
            <a:off x="552450" y="60579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정보제공을 목적으로 작성되었으며 투자권유 또는 청약의 권유를 구성하지 않습니다. 과거의 운용실적이 미래의 수익을 보장하지 않으며, 투자원금의 손실이 발생할 수 있습니다. 무단 복제·배포를 금합니다.</a:t>
            </a:r>
            <a:endParaRPr lang="en-US" sz="900" dirty="0"/>
          </a:p>
        </p:txBody>
      </p:sp>
      <p:sp>
        <p:nvSpPr>
          <p:cNvPr id="8" name="footer"/>
          <p:cNvSpPr/>
          <p:nvPr>
            <p:ph idx="110" type="body" hasCustomPrompt="1"/>
          </p:nvPr>
        </p:nvSpPr>
        <p:spPr>
          <a:xfrm>
            <a:off x="552450" y="6610350"/>
            <a:ext cx="857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© 2025 IGIS Asset Management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72850" y="6610350"/>
            <a:ext cx="2667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8A8A8A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GIS KAMCO">
  <a:themeElements>
    <a:clrScheme name="IGIS KAMCO">
      <a:dk1>
        <a:srgbClr val="000000"/>
      </a:dk1>
      <a:lt1>
        <a:srgbClr val="FFFFFF"/>
      </a:lt1>
      <a:dk2>
        <a:srgbClr val="2D375A"/>
      </a:dk2>
      <a:lt2>
        <a:srgbClr val="E2E2E2"/>
      </a:lt2>
      <a:accent1>
        <a:srgbClr val="0055A5"/>
      </a:accent1>
      <a:accent2>
        <a:srgbClr val="2D375A"/>
      </a:accent2>
      <a:accent3>
        <a:srgbClr val="78B9E6"/>
      </a:accent3>
      <a:accent4>
        <a:srgbClr val="5A5A5A"/>
      </a:accent4>
      <a:accent5>
        <a:srgbClr val="A8A8A8"/>
      </a:accent5>
      <a:accent6>
        <a:srgbClr val="C9C9C9"/>
      </a:accent6>
      <a:hlink>
        <a:srgbClr val="0055A5"/>
      </a:hlink>
      <a:folHlink>
        <a:srgbClr val="2D375A"/>
      </a:folHlink>
    </a:clrScheme>
    <a:fontScheme name="IGIS KAMCO">
      <a:majorFont>
        <a:latin typeface="Pretendard SemiBold"/>
        <a:ea typeface="Pretendard SemiBold"/>
        <a:cs typeface=""/>
        <a:font script="Jpan" typeface="游ゴシック Light"/>
        <a:font script="Hang" typeface="Pretendard SemiBold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Pretendard"/>
        <a:cs typeface=""/>
        <a:font script="Jpan" typeface="游ゴシック"/>
        <a:font script="Hang" typeface="Pretendard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IGIS Asset Management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IGIS 제안서 디자인가이드-KAMCO</dc:title>
  <dc:subject>PptxGenJS Presentation</dc:subject>
  <dc:creator>IGIS Asset Management</dc:creator>
  <cp:lastModifiedBy>IGIS Asset Management</cp:lastModifiedBy>
  <cp:revision>1</cp:revision>
  <dcterms:created xsi:type="dcterms:W3CDTF">2026-10-27T08:21:54Z</dcterms:created>
  <dcterms:modified xsi:type="dcterms:W3CDTF">2026-10-27T08:21:54Z</dcterms:modified>
</cp:coreProperties>
</file>